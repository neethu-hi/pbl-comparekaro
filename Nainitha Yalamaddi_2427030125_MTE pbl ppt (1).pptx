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68" r:id="rId5"/>
    <p:sldId id="259" r:id="rId6"/>
    <p:sldId id="272" r:id="rId7"/>
    <p:sldId id="260" r:id="rId8"/>
    <p:sldId id="262" r:id="rId9"/>
    <p:sldId id="261" r:id="rId10"/>
    <p:sldId id="269" r:id="rId11"/>
    <p:sldId id="270" r:id="rId12"/>
    <p:sldId id="273" r:id="rId13"/>
    <p:sldId id="271" r:id="rId14"/>
    <p:sldId id="274" r:id="rId15"/>
    <p:sldId id="266" r:id="rId16"/>
    <p:sldId id="276" r:id="rId17"/>
    <p:sldId id="275" r:id="rId18"/>
    <p:sldId id="277" r:id="rId19"/>
    <p:sldId id="267" r:id="rId20"/>
    <p:sldId id="263"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E1E88C-01DF-CBBE-112C-06C493DAD856}" v="253" dt="2026-04-10T16:12:59.2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45DA84-AE2C-4E95-A4D0-8B7F15E0E744}"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7ECF4C-1F0C-4431-9E0D-A1009B695688}" type="slidenum">
              <a:rPr lang="en-IN" smtClean="0"/>
              <a:t>‹#›</a:t>
            </a:fld>
            <a:endParaRPr lang="en-IN"/>
          </a:p>
        </p:txBody>
      </p:sp>
    </p:spTree>
    <p:extLst>
      <p:ext uri="{BB962C8B-B14F-4D97-AF65-F5344CB8AC3E}">
        <p14:creationId xmlns:p14="http://schemas.microsoft.com/office/powerpoint/2010/main" val="2173614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A7ECF4C-1F0C-4431-9E0D-A1009B695688}" type="slidenum">
              <a:rPr lang="en-IN" smtClean="0"/>
              <a:t>14</a:t>
            </a:fld>
            <a:endParaRPr lang="en-IN"/>
          </a:p>
        </p:txBody>
      </p:sp>
    </p:spTree>
    <p:extLst>
      <p:ext uri="{BB962C8B-B14F-4D97-AF65-F5344CB8AC3E}">
        <p14:creationId xmlns:p14="http://schemas.microsoft.com/office/powerpoint/2010/main" val="2962608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shopping.google.com/" TargetMode="External"/><Relationship Id="rId2" Type="http://schemas.openxmlformats.org/officeDocument/2006/relationships/hyperlink" Target="https://www.pricedekho.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normAutofit fontScale="90000"/>
          </a:bodyPr>
          <a:lstStyle/>
          <a:p>
            <a:r>
              <a:rPr lang="en-IN" sz="4800" dirty="0"/>
              <a:t>CompareKaro- A smarter way to shop</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Nainitha </a:t>
            </a:r>
            <a:r>
              <a:rPr lang="en-IN" dirty="0" err="1"/>
              <a:t>Yalamaddi</a:t>
            </a:r>
            <a:endParaRPr lang="en-IN" dirty="0"/>
          </a:p>
          <a:p>
            <a:r>
              <a:rPr lang="en-IN" dirty="0"/>
              <a:t>2427030125</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Ashish Kumar</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vert="horz" lIns="91440" tIns="45720" rIns="91440" bIns="45720" rtlCol="0" anchor="t">
            <a:normAutofit lnSpcReduction="10000"/>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a:t>Objectives</a:t>
            </a:r>
            <a:endParaRPr lang="en-IN" dirty="0"/>
          </a:p>
          <a:p>
            <a:pPr>
              <a:buFont typeface="Wingdings" panose="05000000000000000000" pitchFamily="2" charset="2"/>
              <a:buChar char="v"/>
            </a:pPr>
            <a:r>
              <a:rPr lang="en-IN"/>
              <a:t>Proposed Methodology</a:t>
            </a:r>
            <a:endParaRPr lang="en-IN" dirty="0"/>
          </a:p>
          <a:p>
            <a:pPr>
              <a:buFont typeface="Wingdings" panose="05000000000000000000" pitchFamily="2" charset="2"/>
              <a:buChar char="v"/>
            </a:pPr>
            <a:r>
              <a:rPr lang="en-IN"/>
              <a:t>Testing and Future Deployment</a:t>
            </a:r>
            <a:endParaRPr lang="en-IN" dirty="0"/>
          </a:p>
          <a:p>
            <a:pPr>
              <a:buFont typeface="Wingdings" panose="05000000000000000000" pitchFamily="2" charset="2"/>
              <a:buChar char="v"/>
            </a:pPr>
            <a:r>
              <a:rPr lang="en-IN" dirty="0"/>
              <a:t>Results</a:t>
            </a:r>
          </a:p>
          <a:p>
            <a:pPr>
              <a:buFont typeface="Wingdings" panose="05000000000000000000" pitchFamily="2" charset="2"/>
              <a:buChar char="v"/>
            </a:pPr>
            <a:r>
              <a:rPr lang="en-IN"/>
              <a:t>Outcome</a:t>
            </a:r>
            <a:endParaRPr lang="en-IN" dirty="0"/>
          </a:p>
          <a:p>
            <a:pPr>
              <a:buFont typeface="Wingdings" panose="05000000000000000000" pitchFamily="2" charset="2"/>
              <a:buChar char="v"/>
            </a:pPr>
            <a:r>
              <a:rPr lang="en-IN"/>
              <a:t>References</a:t>
            </a:r>
            <a:endParaRPr lang="en-IN" dirty="0"/>
          </a:p>
          <a:p>
            <a:pPr marL="0" indent="0">
              <a:buNone/>
            </a:pPr>
            <a:endParaRPr lang="en-IN" dirty="0"/>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a:xfrm>
            <a:off x="838200" y="1501160"/>
            <a:ext cx="10515600" cy="4351338"/>
          </a:xfrm>
        </p:spPr>
        <p:txBody>
          <a:bodyPr>
            <a:normAutofit lnSpcReduction="10000"/>
          </a:bodyPr>
          <a:lstStyle/>
          <a:p>
            <a:r>
              <a:rPr lang="en-US" dirty="0"/>
              <a:t>Today's online shopper face a </a:t>
            </a:r>
            <a:r>
              <a:rPr lang="en-US" b="1" dirty="0"/>
              <a:t>new dilemma</a:t>
            </a:r>
            <a:r>
              <a:rPr lang="en-US" dirty="0"/>
              <a:t>: an overwhelming abundance of choice that often leads to decision failure.</a:t>
            </a:r>
          </a:p>
          <a:p>
            <a:r>
              <a:rPr lang="en-US" dirty="0"/>
              <a:t>Customers are forced to juggle dozens of browser tabs, cross-reference prices on Amazon, Flipkart, and other sites, and decipher conflicting reviews, all while trying to factor in delivery costs and overall value. It's a time-consuming and often unreliable process.</a:t>
            </a:r>
          </a:p>
          <a:p>
            <a:r>
              <a:rPr lang="en-US" dirty="0"/>
              <a:t>That's where </a:t>
            </a:r>
            <a:r>
              <a:rPr lang="en-US" b="1" dirty="0"/>
              <a:t>Comparekaro</a:t>
            </a:r>
            <a:r>
              <a:rPr lang="en-US" dirty="0"/>
              <a:t> comes in, the intelligent shopping platform that does the heavy lifting for you. Making online comparison shopping by moving beyond simple price checks to deliver an overall, ranked buying guide tailored to every need.</a:t>
            </a:r>
          </a:p>
          <a:p>
            <a:pPr marL="0" indent="0">
              <a:buNone/>
            </a:pP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1585708-DEAA-664E-6F89-EDC69D083BC5}"/>
              </a:ext>
            </a:extLst>
          </p:cNvPr>
          <p:cNvSpPr>
            <a:spLocks noGrp="1"/>
          </p:cNvSpPr>
          <p:nvPr>
            <p:ph idx="1"/>
          </p:nvPr>
        </p:nvSpPr>
        <p:spPr>
          <a:xfrm>
            <a:off x="670112" y="657598"/>
            <a:ext cx="10515600" cy="5754688"/>
          </a:xfrm>
        </p:spPr>
        <p:txBody>
          <a:bodyPr>
            <a:normAutofit fontScale="92500" lnSpcReduction="20000"/>
          </a:bodyPr>
          <a:lstStyle/>
          <a:p>
            <a:r>
              <a:rPr lang="en-US" b="1" dirty="0"/>
              <a:t>Comprehensive, All-in-One Scans:</a:t>
            </a:r>
            <a:r>
              <a:rPr lang="en-US" dirty="0"/>
              <a:t> Just search for a product and the engine will search all major e-commerce sites in real time. Shows you the entire market in a single, easy-to-read results page.</a:t>
            </a:r>
          </a:p>
          <a:p>
            <a:r>
              <a:rPr lang="en-US" b="1" dirty="0"/>
              <a:t>Smart Ranking: </a:t>
            </a:r>
            <a:r>
              <a:rPr lang="en-US" dirty="0"/>
              <a:t>It does not just simply list choices, it ranks them. The smart ranking takes into account all of the relevant factors so you don’t have to: </a:t>
            </a:r>
          </a:p>
          <a:p>
            <a:r>
              <a:rPr lang="en-US" b="1" dirty="0"/>
              <a:t>Best Value (Overall Rank):</a:t>
            </a:r>
            <a:r>
              <a:rPr lang="en-US" dirty="0"/>
              <a:t> The smartest buy, balancing cost and quality.</a:t>
            </a:r>
          </a:p>
          <a:p>
            <a:r>
              <a:rPr lang="en-US" b="1" dirty="0"/>
              <a:t>Lowest Total Price</a:t>
            </a:r>
            <a:r>
              <a:rPr lang="en-US" dirty="0"/>
              <a:t>: Includes the product cost and delivery charges.</a:t>
            </a:r>
          </a:p>
          <a:p>
            <a:r>
              <a:rPr lang="en-US" b="1" dirty="0"/>
              <a:t>Top Rated</a:t>
            </a:r>
            <a:r>
              <a:rPr lang="en-US" dirty="0"/>
              <a:t>: Prioritizes products with consistently positive and authentic reviews.</a:t>
            </a:r>
          </a:p>
          <a:p>
            <a:r>
              <a:rPr lang="en-US" b="1" dirty="0"/>
              <a:t>Most Popular: </a:t>
            </a:r>
            <a:r>
              <a:rPr lang="en-US" dirty="0"/>
              <a:t>Highlights items that are frequently bought. </a:t>
            </a:r>
          </a:p>
          <a:p>
            <a:r>
              <a:rPr lang="en-US" b="1" dirty="0"/>
              <a:t>Intelligent Cart Comparison:</a:t>
            </a:r>
            <a:r>
              <a:rPr lang="en-US" dirty="0"/>
              <a:t> Add similar products (e.g., two different Bluetooth headphones) to comparison cart, and it will directly compare their features, prices, and reviews side-by-side. This eliminates guessing and helps pinpoint the exact product that matches customer preference, not just budget.</a:t>
            </a:r>
          </a:p>
          <a:p>
            <a:endParaRPr lang="en-IN" dirty="0"/>
          </a:p>
        </p:txBody>
      </p:sp>
    </p:spTree>
    <p:extLst>
      <p:ext uri="{BB962C8B-B14F-4D97-AF65-F5344CB8AC3E}">
        <p14:creationId xmlns:p14="http://schemas.microsoft.com/office/powerpoint/2010/main" val="241823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normAutofit/>
          </a:bodyPr>
          <a:lstStyle/>
          <a:p>
            <a:br>
              <a:rPr lang="en-IN" b="1" dirty="0"/>
            </a:br>
            <a:r>
              <a:rPr lang="en-IN" b="1"/>
              <a:t>Literature Review</a:t>
            </a:r>
          </a:p>
        </p:txBody>
      </p:sp>
      <p:sp>
        <p:nvSpPr>
          <p:cNvPr id="5" name="Rectangle 2">
            <a:extLst>
              <a:ext uri="{FF2B5EF4-FFF2-40B4-BE49-F238E27FC236}">
                <a16:creationId xmlns:a16="http://schemas.microsoft.com/office/drawing/2014/main" id="{2924EB8E-104C-ECB2-8F3D-146DC15B4E9F}"/>
              </a:ext>
            </a:extLst>
          </p:cNvPr>
          <p:cNvSpPr>
            <a:spLocks noGrp="1" noChangeArrowheads="1"/>
          </p:cNvSpPr>
          <p:nvPr>
            <p:ph idx="1"/>
          </p:nvPr>
        </p:nvSpPr>
        <p:spPr bwMode="auto">
          <a:xfrm>
            <a:off x="838200" y="957662"/>
            <a:ext cx="1051560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endParaRPr lang="en-US" altLang="en-US" sz="2600" dirty="0">
              <a:latin typeface="Aptos"/>
            </a:endParaRPr>
          </a:p>
          <a:p>
            <a:pPr>
              <a:lnSpc>
                <a:spcPct val="100000"/>
              </a:lnSpc>
              <a:spcBef>
                <a:spcPct val="0"/>
              </a:spcBef>
              <a:spcAft>
                <a:spcPct val="0"/>
              </a:spcAft>
            </a:pPr>
            <a:endParaRPr lang="en-US" altLang="en-US" sz="2600" dirty="0">
              <a:latin typeface="Aptos"/>
            </a:endParaRPr>
          </a:p>
          <a:p>
            <a:pPr>
              <a:lnSpc>
                <a:spcPct val="100000"/>
              </a:lnSpc>
              <a:spcBef>
                <a:spcPct val="0"/>
              </a:spcBef>
              <a:spcAft>
                <a:spcPct val="0"/>
              </a:spcAft>
            </a:pPr>
            <a:endParaRPr lang="en-US" altLang="en-US" sz="2600" dirty="0">
              <a:latin typeface="Aptos"/>
            </a:endParaRPr>
          </a:p>
          <a:p>
            <a:pPr>
              <a:lnSpc>
                <a:spcPct val="100000"/>
              </a:lnSpc>
              <a:spcBef>
                <a:spcPct val="0"/>
              </a:spcBef>
              <a:spcAft>
                <a:spcPct val="0"/>
              </a:spcAft>
            </a:pPr>
            <a:r>
              <a:rPr lang="en-US" altLang="en-US" sz="2600" dirty="0">
                <a:latin typeface="Aptos"/>
              </a:rPr>
              <a:t>Studied platforms like </a:t>
            </a:r>
            <a:r>
              <a:rPr lang="en-US" altLang="en-US" sz="2600" dirty="0" err="1">
                <a:latin typeface="Aptos"/>
              </a:rPr>
              <a:t>CompareRaja</a:t>
            </a:r>
            <a:r>
              <a:rPr lang="en-US" altLang="en-US" sz="2600" dirty="0">
                <a:latin typeface="Aptos"/>
              </a:rPr>
              <a:t> and </a:t>
            </a:r>
            <a:r>
              <a:rPr lang="en-US" altLang="en-US" sz="2600" dirty="0" err="1">
                <a:latin typeface="Aptos"/>
              </a:rPr>
              <a:t>PriceDekho</a:t>
            </a:r>
            <a:r>
              <a:rPr lang="en-US" altLang="en-US" sz="2600" dirty="0">
                <a:latin typeface="Aptos"/>
              </a:rPr>
              <a:t>.</a:t>
            </a:r>
            <a:endParaRPr lang="en-US"/>
          </a:p>
          <a:p>
            <a:pPr eaLnBrk="0" fontAlgn="base" hangingPunct="0">
              <a:lnSpc>
                <a:spcPct val="100000"/>
              </a:lnSpc>
              <a:spcBef>
                <a:spcPct val="0"/>
              </a:spcBef>
              <a:spcAft>
                <a:spcPct val="0"/>
              </a:spcAft>
            </a:pPr>
            <a:r>
              <a:rPr lang="en-US" altLang="en-US" sz="2600" dirty="0">
                <a:latin typeface="Aptos"/>
              </a:rPr>
              <a:t>Observed that most platforms focus only on electronics.</a:t>
            </a:r>
          </a:p>
          <a:p>
            <a:pPr eaLnBrk="0" fontAlgn="base" hangingPunct="0">
              <a:lnSpc>
                <a:spcPct val="100000"/>
              </a:lnSpc>
              <a:spcBef>
                <a:spcPct val="0"/>
              </a:spcBef>
              <a:spcAft>
                <a:spcPct val="0"/>
              </a:spcAft>
            </a:pPr>
            <a:r>
              <a:rPr lang="en-US" altLang="en-US" sz="2600" dirty="0">
                <a:latin typeface="Aptos"/>
              </a:rPr>
              <a:t>Identified lack of structured product ranking mechanisms.</a:t>
            </a:r>
          </a:p>
          <a:p>
            <a:pPr eaLnBrk="0" fontAlgn="base" hangingPunct="0">
              <a:lnSpc>
                <a:spcPct val="100000"/>
              </a:lnSpc>
              <a:spcBef>
                <a:spcPct val="0"/>
              </a:spcBef>
              <a:spcAft>
                <a:spcPct val="0"/>
              </a:spcAft>
            </a:pPr>
            <a:r>
              <a:rPr lang="en-US" altLang="en-US" sz="2600" dirty="0">
                <a:latin typeface="Aptos"/>
              </a:rPr>
              <a:t>Found that users must manually compare specifications.</a:t>
            </a:r>
          </a:p>
          <a:p>
            <a:pPr eaLnBrk="0" fontAlgn="base" hangingPunct="0">
              <a:lnSpc>
                <a:spcPct val="100000"/>
              </a:lnSpc>
              <a:spcBef>
                <a:spcPct val="0"/>
              </a:spcBef>
              <a:spcAft>
                <a:spcPct val="0"/>
              </a:spcAft>
            </a:pPr>
            <a:r>
              <a:rPr lang="en-US" altLang="en-US" sz="2600" dirty="0">
                <a:latin typeface="Aptos"/>
              </a:rPr>
              <a:t>Noted limited support for non-technical users.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F40EE1-38D0-B81F-25C9-C68E402CF2BB}"/>
              </a:ext>
            </a:extLst>
          </p:cNvPr>
          <p:cNvSpPr>
            <a:spLocks noGrp="1"/>
          </p:cNvSpPr>
          <p:nvPr>
            <p:ph idx="1"/>
          </p:nvPr>
        </p:nvSpPr>
        <p:spPr>
          <a:xfrm>
            <a:off x="838200" y="813517"/>
            <a:ext cx="10515600" cy="4351338"/>
          </a:xfrm>
        </p:spPr>
        <p:txBody>
          <a:bodyPr/>
          <a:lstStyle/>
          <a:p>
            <a:pPr marL="0" indent="0">
              <a:buNone/>
            </a:pPr>
            <a:r>
              <a:rPr lang="en-US" b="1" dirty="0"/>
              <a:t>Research Gap Identification</a:t>
            </a:r>
          </a:p>
          <a:p>
            <a:pPr marL="0" indent="0">
              <a:buNone/>
            </a:pPr>
            <a:endParaRPr lang="en-US" b="1" dirty="0"/>
          </a:p>
          <a:p>
            <a:r>
              <a:rPr lang="en-US" sz="2600" dirty="0"/>
              <a:t>No unified platform providing simplified comparison and ranking.</a:t>
            </a:r>
          </a:p>
          <a:p>
            <a:r>
              <a:rPr lang="en-US" sz="2600" dirty="0"/>
              <a:t>Existing systems require prior technical knowledge.</a:t>
            </a:r>
          </a:p>
          <a:p>
            <a:r>
              <a:rPr lang="en-US" sz="2600" dirty="0"/>
              <a:t>Lack of clear decision-support structure.</a:t>
            </a:r>
          </a:p>
          <a:p>
            <a:r>
              <a:rPr lang="en-US" sz="2600" dirty="0"/>
              <a:t>Limited customization based on user needs.</a:t>
            </a:r>
          </a:p>
          <a:p>
            <a:r>
              <a:rPr lang="en-US" sz="2600" dirty="0"/>
              <a:t>Need for an intuitive and user-friendly comparison system</a:t>
            </a:r>
            <a:r>
              <a:rPr lang="en-US" dirty="0"/>
              <a:t>.</a:t>
            </a:r>
          </a:p>
          <a:p>
            <a:pPr marL="0" indent="0">
              <a:buNone/>
            </a:pPr>
            <a:endParaRPr lang="en-IN" dirty="0"/>
          </a:p>
        </p:txBody>
      </p:sp>
    </p:spTree>
    <p:extLst>
      <p:ext uri="{BB962C8B-B14F-4D97-AF65-F5344CB8AC3E}">
        <p14:creationId xmlns:p14="http://schemas.microsoft.com/office/powerpoint/2010/main" val="2680400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b="1"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lstStyle/>
          <a:p>
            <a:pPr marL="0" indent="0">
              <a:buNone/>
            </a:pPr>
            <a:r>
              <a:rPr lang="en-US" dirty="0"/>
              <a:t>Users face difficulty in comparing products across multiple e-commerce platforms due to the lack of a structured ranking and simplified comparison system.</a:t>
            </a:r>
            <a:endParaRPr lang="en-IN" dirty="0"/>
          </a:p>
        </p:txBody>
      </p:sp>
    </p:spTree>
    <p:extLst>
      <p:ext uri="{BB962C8B-B14F-4D97-AF65-F5344CB8AC3E}">
        <p14:creationId xmlns:p14="http://schemas.microsoft.com/office/powerpoint/2010/main" val="2374707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b="1" dirty="0"/>
              <a:t>Objectives</a:t>
            </a:r>
          </a:p>
        </p:txBody>
      </p:sp>
      <p:sp>
        <p:nvSpPr>
          <p:cNvPr id="4" name="Rectangle 1">
            <a:extLst>
              <a:ext uri="{FF2B5EF4-FFF2-40B4-BE49-F238E27FC236}">
                <a16:creationId xmlns:a16="http://schemas.microsoft.com/office/drawing/2014/main" id="{ABE0C918-AA74-425D-A7B2-03D30776DF95}"/>
              </a:ext>
            </a:extLst>
          </p:cNvPr>
          <p:cNvSpPr>
            <a:spLocks noGrp="1" noChangeArrowheads="1"/>
          </p:cNvSpPr>
          <p:nvPr>
            <p:ph idx="1"/>
          </p:nvPr>
        </p:nvSpPr>
        <p:spPr bwMode="auto">
          <a:xfrm>
            <a:off x="838200" y="1577824"/>
            <a:ext cx="1074420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600" b="0" i="0" u="none" strike="noStrike" cap="none" normalizeH="0" baseline="0" dirty="0">
                <a:ln>
                  <a:noFill/>
                </a:ln>
                <a:solidFill>
                  <a:schemeClr val="tx1"/>
                </a:solidFill>
                <a:effectLst/>
                <a:latin typeface="Arial" panose="020B0604020202020204" pitchFamily="34" charset="0"/>
              </a:rPr>
              <a:t>To develop a user-friendly web interface for comparing products across multiple e-commerce platforms.</a:t>
            </a:r>
          </a:p>
          <a:p>
            <a:pPr eaLnBrk="0" fontAlgn="base" hangingPunct="0">
              <a:lnSpc>
                <a:spcPct val="100000"/>
              </a:lnSpc>
              <a:spcBef>
                <a:spcPct val="0"/>
              </a:spcBef>
              <a:spcAft>
                <a:spcPct val="0"/>
              </a:spcAft>
            </a:pPr>
            <a:r>
              <a:rPr kumimoji="0" lang="en-US" altLang="en-US" sz="2600" b="0" i="0" u="none" strike="noStrike" cap="none" normalizeH="0" baseline="0" dirty="0">
                <a:ln>
                  <a:noFill/>
                </a:ln>
                <a:solidFill>
                  <a:schemeClr val="tx1"/>
                </a:solidFill>
                <a:effectLst/>
                <a:latin typeface="Arial" panose="020B0604020202020204" pitchFamily="34" charset="0"/>
              </a:rPr>
              <a:t>To provide a structured comparison system based on price and key features.</a:t>
            </a:r>
          </a:p>
          <a:p>
            <a:pPr eaLnBrk="0" fontAlgn="base" hangingPunct="0">
              <a:lnSpc>
                <a:spcPct val="100000"/>
              </a:lnSpc>
              <a:spcBef>
                <a:spcPct val="0"/>
              </a:spcBef>
              <a:spcAft>
                <a:spcPct val="0"/>
              </a:spcAft>
            </a:pPr>
            <a:r>
              <a:rPr kumimoji="0" lang="en-US" altLang="en-US" sz="2600" b="0" i="0" u="none" strike="noStrike" cap="none" normalizeH="0" baseline="0" dirty="0">
                <a:ln>
                  <a:noFill/>
                </a:ln>
                <a:solidFill>
                  <a:schemeClr val="tx1"/>
                </a:solidFill>
                <a:effectLst/>
                <a:latin typeface="Arial" panose="020B0604020202020204" pitchFamily="34" charset="0"/>
              </a:rPr>
              <a:t>To reduce user decision-making time through organized product ranking.</a:t>
            </a:r>
          </a:p>
          <a:p>
            <a:pPr eaLnBrk="0" fontAlgn="base" hangingPunct="0">
              <a:lnSpc>
                <a:spcPct val="100000"/>
              </a:lnSpc>
              <a:spcBef>
                <a:spcPct val="0"/>
              </a:spcBef>
              <a:spcAft>
                <a:spcPct val="0"/>
              </a:spcAft>
            </a:pPr>
            <a:r>
              <a:rPr kumimoji="0" lang="en-US" altLang="en-US" sz="2600" b="0" i="0" u="none" strike="noStrike" cap="none" normalizeH="0" baseline="0" dirty="0">
                <a:ln>
                  <a:noFill/>
                </a:ln>
                <a:solidFill>
                  <a:schemeClr val="tx1"/>
                </a:solidFill>
                <a:effectLst/>
                <a:latin typeface="Arial" panose="020B0604020202020204" pitchFamily="34" charset="0"/>
              </a:rPr>
              <a:t>To design a scalable system ready for backend integration and real-time price updates.</a:t>
            </a:r>
          </a:p>
        </p:txBody>
      </p:sp>
    </p:spTree>
    <p:extLst>
      <p:ext uri="{BB962C8B-B14F-4D97-AF65-F5344CB8AC3E}">
        <p14:creationId xmlns:p14="http://schemas.microsoft.com/office/powerpoint/2010/main" val="3547097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b="1" dirty="0"/>
              <a:t>Proposed Methodology </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p:txBody>
          <a:bodyPr vert="horz" lIns="91440" tIns="45720" rIns="91440" bIns="45720" rtlCol="0" anchor="t">
            <a:normAutofit/>
          </a:bodyPr>
          <a:lstStyle/>
          <a:p>
            <a:pPr marL="0" indent="0">
              <a:buNone/>
            </a:pPr>
            <a:r>
              <a:rPr lang="en-IN" b="1" dirty="0"/>
              <a:t>Requirement Analysis</a:t>
            </a:r>
          </a:p>
          <a:p>
            <a:pPr marL="0" indent="0">
              <a:buNone/>
            </a:pPr>
            <a:endParaRPr lang="en-IN" dirty="0"/>
          </a:p>
          <a:p>
            <a:pPr lvl="0" eaLnBrk="0" fontAlgn="base" hangingPunct="0">
              <a:lnSpc>
                <a:spcPct val="100000"/>
              </a:lnSpc>
              <a:spcBef>
                <a:spcPct val="0"/>
              </a:spcBef>
              <a:spcAft>
                <a:spcPct val="0"/>
              </a:spcAft>
            </a:pPr>
            <a:r>
              <a:rPr lang="en-US" altLang="en-US" sz="2600" dirty="0">
                <a:latin typeface="Arial"/>
                <a:cs typeface="Arial"/>
              </a:rPr>
              <a:t>Studied existing product comparison platforms and identified limitations.</a:t>
            </a:r>
          </a:p>
          <a:p>
            <a:pPr lvl="0" eaLnBrk="0" fontAlgn="base" hangingPunct="0">
              <a:lnSpc>
                <a:spcPct val="100000"/>
              </a:lnSpc>
              <a:spcBef>
                <a:spcPct val="0"/>
              </a:spcBef>
              <a:spcAft>
                <a:spcPct val="0"/>
              </a:spcAft>
            </a:pPr>
            <a:r>
              <a:rPr lang="en-US" altLang="en-US" sz="2600" dirty="0">
                <a:latin typeface="Arial" panose="020B0604020202020204" pitchFamily="34" charset="0"/>
              </a:rPr>
              <a:t>Analyzed user problems in comparing products across multiple websites.</a:t>
            </a:r>
          </a:p>
          <a:p>
            <a:pPr lvl="0" eaLnBrk="0" fontAlgn="base" hangingPunct="0">
              <a:lnSpc>
                <a:spcPct val="100000"/>
              </a:lnSpc>
              <a:spcBef>
                <a:spcPct val="0"/>
              </a:spcBef>
              <a:spcAft>
                <a:spcPct val="0"/>
              </a:spcAft>
            </a:pPr>
            <a:r>
              <a:rPr lang="en-US" altLang="en-US" sz="2600" dirty="0">
                <a:latin typeface="Arial" panose="020B0604020202020204" pitchFamily="34" charset="0"/>
              </a:rPr>
              <a:t>Defined functional requirements (comparison, ranking, navigation).</a:t>
            </a:r>
          </a:p>
          <a:p>
            <a:pPr lvl="0" eaLnBrk="0" fontAlgn="base" hangingPunct="0">
              <a:lnSpc>
                <a:spcPct val="100000"/>
              </a:lnSpc>
              <a:spcBef>
                <a:spcPct val="0"/>
              </a:spcBef>
              <a:spcAft>
                <a:spcPct val="0"/>
              </a:spcAft>
            </a:pPr>
            <a:r>
              <a:rPr lang="en-US" altLang="en-US" sz="2600" dirty="0">
                <a:latin typeface="Arial"/>
                <a:cs typeface="Arial"/>
              </a:rPr>
              <a:t>Identified need for a simple and structured interface.</a:t>
            </a:r>
          </a:p>
          <a:p>
            <a:pPr lvl="0" eaLnBrk="0" fontAlgn="base" hangingPunct="0">
              <a:lnSpc>
                <a:spcPct val="100000"/>
              </a:lnSpc>
              <a:spcBef>
                <a:spcPct val="0"/>
              </a:spcBef>
              <a:spcAft>
                <a:spcPct val="0"/>
              </a:spcAft>
            </a:pPr>
            <a:r>
              <a:rPr lang="en-US" altLang="en-US" sz="2600" dirty="0">
                <a:latin typeface="Arial" panose="020B0604020202020204" pitchFamily="34" charset="0"/>
              </a:rPr>
              <a:t>Planned scalable architecture for future backend integration.</a:t>
            </a:r>
          </a:p>
          <a:p>
            <a:pPr marL="0" indent="0">
              <a:buNone/>
            </a:pPr>
            <a:endParaRPr lang="en-IN" dirty="0"/>
          </a:p>
        </p:txBody>
      </p:sp>
    </p:spTree>
    <p:extLst>
      <p:ext uri="{BB962C8B-B14F-4D97-AF65-F5344CB8AC3E}">
        <p14:creationId xmlns:p14="http://schemas.microsoft.com/office/powerpoint/2010/main" val="1077724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CB8B5B-ACCD-FD75-DE68-C65C6CB11F1A}"/>
              </a:ext>
            </a:extLst>
          </p:cNvPr>
          <p:cNvSpPr>
            <a:spLocks noGrp="1"/>
          </p:cNvSpPr>
          <p:nvPr>
            <p:ph idx="1"/>
          </p:nvPr>
        </p:nvSpPr>
        <p:spPr>
          <a:xfrm>
            <a:off x="838200" y="832566"/>
            <a:ext cx="10515600" cy="5863201"/>
          </a:xfrm>
        </p:spPr>
        <p:txBody>
          <a:bodyPr vert="horz" lIns="91440" tIns="45720" rIns="91440" bIns="45720" rtlCol="0" anchor="t">
            <a:normAutofit/>
          </a:bodyPr>
          <a:lstStyle/>
          <a:p>
            <a:pPr marL="0" indent="0">
              <a:buNone/>
            </a:pPr>
            <a:r>
              <a:rPr lang="en-IN" b="1" dirty="0"/>
              <a:t>System Design</a:t>
            </a:r>
          </a:p>
          <a:p>
            <a:pPr marL="0" indent="0">
              <a:buNone/>
            </a:pPr>
            <a:endParaRPr lang="en-IN" sz="3200" dirty="0"/>
          </a:p>
          <a:p>
            <a:pPr lvl="0" eaLnBrk="0" fontAlgn="base" hangingPunct="0">
              <a:lnSpc>
                <a:spcPct val="100000"/>
              </a:lnSpc>
              <a:spcBef>
                <a:spcPct val="0"/>
              </a:spcBef>
              <a:spcAft>
                <a:spcPct val="0"/>
              </a:spcAft>
            </a:pPr>
            <a:r>
              <a:rPr lang="en-US" altLang="en-US" sz="2600" dirty="0">
                <a:latin typeface="Aptos"/>
              </a:rPr>
              <a:t>Designed overall system architecture (Frontend → Backend → Database).</a:t>
            </a:r>
          </a:p>
          <a:p>
            <a:pPr eaLnBrk="0" fontAlgn="base" hangingPunct="0">
              <a:lnSpc>
                <a:spcPct val="100000"/>
              </a:lnSpc>
              <a:spcBef>
                <a:spcPct val="0"/>
              </a:spcBef>
              <a:spcAft>
                <a:spcPct val="0"/>
              </a:spcAft>
            </a:pPr>
            <a:r>
              <a:rPr lang="en-US" altLang="en-US" sz="2600" dirty="0">
                <a:latin typeface="Aptos"/>
                <a:cs typeface="Arial"/>
              </a:rPr>
              <a:t>Created wireframes for Home, </a:t>
            </a:r>
            <a:r>
              <a:rPr lang="en-US" altLang="en-US" sz="2600" dirty="0" err="1">
                <a:latin typeface="Aptos"/>
                <a:cs typeface="Arial"/>
              </a:rPr>
              <a:t>Login,Create</a:t>
            </a:r>
            <a:r>
              <a:rPr lang="en-US" altLang="en-US" sz="2600" dirty="0">
                <a:latin typeface="Aptos"/>
                <a:cs typeface="Arial"/>
              </a:rPr>
              <a:t> Account, Comparison, and Contact pages.</a:t>
            </a:r>
          </a:p>
          <a:p>
            <a:pPr lvl="0" eaLnBrk="0" fontAlgn="base" hangingPunct="0">
              <a:lnSpc>
                <a:spcPct val="100000"/>
              </a:lnSpc>
              <a:spcBef>
                <a:spcPct val="0"/>
              </a:spcBef>
              <a:spcAft>
                <a:spcPct val="0"/>
              </a:spcAft>
            </a:pPr>
            <a:r>
              <a:rPr lang="en-US" altLang="en-US" sz="2600" dirty="0">
                <a:latin typeface="Aptos"/>
              </a:rPr>
              <a:t>Planned product display using structured cards layout.</a:t>
            </a:r>
          </a:p>
          <a:p>
            <a:pPr lvl="0" eaLnBrk="0" fontAlgn="base" hangingPunct="0">
              <a:lnSpc>
                <a:spcPct val="100000"/>
              </a:lnSpc>
              <a:spcBef>
                <a:spcPct val="0"/>
              </a:spcBef>
              <a:spcAft>
                <a:spcPct val="0"/>
              </a:spcAft>
            </a:pPr>
            <a:r>
              <a:rPr lang="en-US" altLang="en-US" sz="2600" dirty="0">
                <a:latin typeface="Aptos"/>
              </a:rPr>
              <a:t>Defined ranking parameters (price, features, availability).</a:t>
            </a:r>
          </a:p>
          <a:p>
            <a:pPr lvl="0" eaLnBrk="0" fontAlgn="base" hangingPunct="0">
              <a:lnSpc>
                <a:spcPct val="100000"/>
              </a:lnSpc>
              <a:spcBef>
                <a:spcPct val="0"/>
              </a:spcBef>
              <a:spcAft>
                <a:spcPct val="0"/>
              </a:spcAft>
            </a:pPr>
            <a:r>
              <a:rPr lang="en-US" altLang="en-US" sz="2600" dirty="0">
                <a:latin typeface="Aptos"/>
              </a:rPr>
              <a:t>Ensured responsive and user-friendly design principles.</a:t>
            </a:r>
          </a:p>
          <a:p>
            <a:endParaRPr lang="en-IN" sz="2600" dirty="0"/>
          </a:p>
          <a:p>
            <a:pPr marL="0" indent="0">
              <a:buNone/>
            </a:pPr>
            <a:endParaRPr lang="en-IN" dirty="0"/>
          </a:p>
        </p:txBody>
      </p:sp>
    </p:spTree>
    <p:extLst>
      <p:ext uri="{BB962C8B-B14F-4D97-AF65-F5344CB8AC3E}">
        <p14:creationId xmlns:p14="http://schemas.microsoft.com/office/powerpoint/2010/main" val="2904447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8F84ED-4328-656F-3B5D-9973F1784EF4}"/>
              </a:ext>
            </a:extLst>
          </p:cNvPr>
          <p:cNvSpPr>
            <a:spLocks noGrp="1"/>
          </p:cNvSpPr>
          <p:nvPr>
            <p:ph idx="1"/>
          </p:nvPr>
        </p:nvSpPr>
        <p:spPr>
          <a:xfrm>
            <a:off x="838200" y="871897"/>
            <a:ext cx="9993682" cy="4664488"/>
          </a:xfrm>
        </p:spPr>
        <p:txBody>
          <a:bodyPr vert="horz" lIns="91440" tIns="45720" rIns="91440" bIns="45720" rtlCol="0" anchor="t">
            <a:normAutofit/>
          </a:bodyPr>
          <a:lstStyle/>
          <a:p>
            <a:pPr marL="0" indent="0">
              <a:buNone/>
            </a:pPr>
            <a:r>
              <a:rPr lang="en-IN" b="1" dirty="0"/>
              <a:t>Implementation</a:t>
            </a:r>
          </a:p>
          <a:p>
            <a:pPr marL="0" indent="0">
              <a:buNone/>
            </a:pPr>
            <a:endParaRPr lang="en-IN" b="1" dirty="0"/>
          </a:p>
          <a:p>
            <a:r>
              <a:rPr lang="en-US" sz="2600"/>
              <a:t>Developed frontend using HTML ,CSS </a:t>
            </a:r>
            <a:r>
              <a:rPr lang="en-US" sz="2600">
                <a:ea typeface="+mn-lt"/>
                <a:cs typeface="+mn-lt"/>
              </a:rPr>
              <a:t>and JavaScript.</a:t>
            </a:r>
          </a:p>
          <a:p>
            <a:r>
              <a:rPr lang="en-US" sz="2600">
                <a:ea typeface="+mn-lt"/>
                <a:cs typeface="+mn-lt"/>
              </a:rPr>
              <a:t>Created responsive UI for better user experience. </a:t>
            </a:r>
            <a:endParaRPr lang="en-US" sz="2600" dirty="0"/>
          </a:p>
          <a:p>
            <a:r>
              <a:rPr lang="en-US" sz="2600">
                <a:ea typeface="+mn-lt"/>
                <a:cs typeface="+mn-lt"/>
              </a:rPr>
              <a:t>Implemented Login and Signup system.</a:t>
            </a:r>
            <a:r>
              <a:rPr lang="en-US" sz="2600" dirty="0">
                <a:ea typeface="+mn-lt"/>
                <a:cs typeface="+mn-lt"/>
              </a:rPr>
              <a:t> </a:t>
            </a:r>
            <a:endParaRPr lang="en-US" dirty="0"/>
          </a:p>
          <a:p>
            <a:r>
              <a:rPr lang="en-US" sz="2600">
                <a:ea typeface="+mn-lt"/>
                <a:cs typeface="+mn-lt"/>
              </a:rPr>
              <a:t>Integrated frontend with backend server. </a:t>
            </a:r>
            <a:endParaRPr lang="en-US"/>
          </a:p>
          <a:p>
            <a:r>
              <a:rPr lang="en-US" sz="2600">
                <a:ea typeface="+mn-lt"/>
                <a:cs typeface="+mn-lt"/>
              </a:rPr>
              <a:t>Enabled dynamic data handling.</a:t>
            </a:r>
            <a:endParaRPr lang="en-US"/>
          </a:p>
          <a:p>
            <a:pPr marL="0" indent="0">
              <a:buNone/>
            </a:pPr>
            <a:endParaRPr lang="en-IN" b="1" dirty="0"/>
          </a:p>
          <a:p>
            <a:pPr marL="0" indent="0">
              <a:buNone/>
            </a:pPr>
            <a:endParaRPr lang="en-IN" dirty="0"/>
          </a:p>
        </p:txBody>
      </p:sp>
    </p:spTree>
    <p:extLst>
      <p:ext uri="{BB962C8B-B14F-4D97-AF65-F5344CB8AC3E}">
        <p14:creationId xmlns:p14="http://schemas.microsoft.com/office/powerpoint/2010/main" val="2677372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9ADE-738F-DAC4-571F-3817D5E672DE}"/>
              </a:ext>
            </a:extLst>
          </p:cNvPr>
          <p:cNvSpPr>
            <a:spLocks noGrp="1"/>
          </p:cNvSpPr>
          <p:nvPr>
            <p:ph type="title"/>
          </p:nvPr>
        </p:nvSpPr>
        <p:spPr/>
        <p:txBody>
          <a:bodyPr>
            <a:normAutofit/>
          </a:bodyPr>
          <a:lstStyle/>
          <a:p>
            <a:r>
              <a:rPr lang="en-US" sz="2800" b="1">
                <a:ea typeface="+mj-lt"/>
                <a:cs typeface="+mj-lt"/>
              </a:rPr>
              <a:t>Backend &amp; Database</a:t>
            </a:r>
            <a:endParaRPr lang="en-US" sz="2800" b="1"/>
          </a:p>
        </p:txBody>
      </p:sp>
      <p:sp>
        <p:nvSpPr>
          <p:cNvPr id="3" name="Content Placeholder 2">
            <a:extLst>
              <a:ext uri="{FF2B5EF4-FFF2-40B4-BE49-F238E27FC236}">
                <a16:creationId xmlns:a16="http://schemas.microsoft.com/office/drawing/2014/main" id="{45701B5E-98A9-32AF-673F-A9FCB4648AC4}"/>
              </a:ext>
            </a:extLst>
          </p:cNvPr>
          <p:cNvSpPr>
            <a:spLocks noGrp="1"/>
          </p:cNvSpPr>
          <p:nvPr>
            <p:ph idx="1"/>
          </p:nvPr>
        </p:nvSpPr>
        <p:spPr/>
        <p:txBody>
          <a:bodyPr vert="horz" lIns="91440" tIns="45720" rIns="91440" bIns="45720" rtlCol="0" anchor="t">
            <a:normAutofit/>
          </a:bodyPr>
          <a:lstStyle/>
          <a:p>
            <a:r>
              <a:rPr lang="en-US" sz="2600">
                <a:ea typeface="+mn-lt"/>
                <a:cs typeface="+mn-lt"/>
              </a:rPr>
              <a:t>Developed backend for authentication system </a:t>
            </a:r>
            <a:endParaRPr lang="en-US" sz="2600"/>
          </a:p>
          <a:p>
            <a:r>
              <a:rPr lang="en-US" sz="2600">
                <a:ea typeface="+mn-lt"/>
                <a:cs typeface="+mn-lt"/>
              </a:rPr>
              <a:t>Implemented user login verification </a:t>
            </a:r>
            <a:endParaRPr lang="en-US" sz="2600"/>
          </a:p>
          <a:p>
            <a:r>
              <a:rPr lang="en-US" sz="2600">
                <a:ea typeface="+mn-lt"/>
                <a:cs typeface="+mn-lt"/>
              </a:rPr>
              <a:t>Stored user credentials in database </a:t>
            </a:r>
            <a:endParaRPr lang="en-US" sz="2600"/>
          </a:p>
          <a:p>
            <a:r>
              <a:rPr lang="en-US" sz="2600">
                <a:ea typeface="+mn-lt"/>
                <a:cs typeface="+mn-lt"/>
              </a:rPr>
              <a:t>Ensured persistent data storage </a:t>
            </a:r>
            <a:endParaRPr lang="en-US" sz="2600"/>
          </a:p>
          <a:p>
            <a:r>
              <a:rPr lang="en-US" sz="2600">
                <a:ea typeface="+mn-lt"/>
                <a:cs typeface="+mn-lt"/>
              </a:rPr>
              <a:t>Technologies used: </a:t>
            </a:r>
            <a:endParaRPr lang="en-US" sz="2600"/>
          </a:p>
          <a:p>
            <a:pPr marL="0" indent="0">
              <a:buNone/>
            </a:pPr>
            <a:r>
              <a:rPr lang="en-US" sz="2600">
                <a:ea typeface="+mn-lt"/>
                <a:cs typeface="+mn-lt"/>
              </a:rPr>
              <a:t>              Backend: PHP </a:t>
            </a:r>
          </a:p>
          <a:p>
            <a:pPr marL="0" indent="0">
              <a:buNone/>
            </a:pPr>
            <a:r>
              <a:rPr lang="en-US" sz="2600">
                <a:ea typeface="+mn-lt"/>
                <a:cs typeface="+mn-lt"/>
              </a:rPr>
              <a:t>              Database: MySQL</a:t>
            </a:r>
            <a:endParaRPr lang="en-US" sz="2600"/>
          </a:p>
          <a:p>
            <a:endParaRPr lang="en-US" sz="2400" dirty="0"/>
          </a:p>
        </p:txBody>
      </p:sp>
    </p:spTree>
    <p:extLst>
      <p:ext uri="{BB962C8B-B14F-4D97-AF65-F5344CB8AC3E}">
        <p14:creationId xmlns:p14="http://schemas.microsoft.com/office/powerpoint/2010/main" val="4223359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870FB7-4373-4EE9-5DEB-73351E22B734}"/>
              </a:ext>
            </a:extLst>
          </p:cNvPr>
          <p:cNvSpPr>
            <a:spLocks noGrp="1"/>
          </p:cNvSpPr>
          <p:nvPr>
            <p:ph idx="1"/>
          </p:nvPr>
        </p:nvSpPr>
        <p:spPr>
          <a:xfrm>
            <a:off x="838200" y="842399"/>
            <a:ext cx="10515600" cy="4351338"/>
          </a:xfrm>
        </p:spPr>
        <p:txBody>
          <a:bodyPr vert="horz" lIns="91440" tIns="45720" rIns="91440" bIns="45720" rtlCol="0" anchor="t">
            <a:normAutofit/>
          </a:bodyPr>
          <a:lstStyle/>
          <a:p>
            <a:pPr marL="0" indent="0">
              <a:buNone/>
            </a:pPr>
            <a:r>
              <a:rPr lang="en-IN" sz="4400" b="1" dirty="0"/>
              <a:t>Testing &amp; Future Deployment</a:t>
            </a:r>
          </a:p>
          <a:p>
            <a:pPr marL="0" indent="0">
              <a:buNone/>
            </a:pPr>
            <a:endParaRPr lang="en-IN" b="1" dirty="0"/>
          </a:p>
          <a:p>
            <a:r>
              <a:rPr lang="en-US" sz="2600">
                <a:ea typeface="+mn-lt"/>
                <a:cs typeface="+mn-lt"/>
              </a:rPr>
              <a:t>Tested UI responsiveness and navigation </a:t>
            </a:r>
            <a:endParaRPr lang="en-US" sz="2600" dirty="0">
              <a:ea typeface="+mn-lt"/>
              <a:cs typeface="+mn-lt"/>
            </a:endParaRPr>
          </a:p>
          <a:p>
            <a:r>
              <a:rPr lang="en-US" sz="2600">
                <a:ea typeface="+mn-lt"/>
                <a:cs typeface="+mn-lt"/>
              </a:rPr>
              <a:t>Verified login and authentication system </a:t>
            </a:r>
            <a:endParaRPr lang="en-US">
              <a:ea typeface="+mn-lt"/>
              <a:cs typeface="+mn-lt"/>
            </a:endParaRPr>
          </a:p>
          <a:p>
            <a:r>
              <a:rPr lang="en-US" sz="2600">
                <a:ea typeface="+mn-lt"/>
                <a:cs typeface="+mn-lt"/>
              </a:rPr>
              <a:t>Checked database storage and retrieval </a:t>
            </a:r>
            <a:endParaRPr lang="en-US">
              <a:ea typeface="+mn-lt"/>
              <a:cs typeface="+mn-lt"/>
            </a:endParaRPr>
          </a:p>
          <a:p>
            <a:r>
              <a:rPr lang="en-US" sz="2600">
                <a:ea typeface="+mn-lt"/>
                <a:cs typeface="+mn-lt"/>
              </a:rPr>
              <a:t>Handled invalid login cases </a:t>
            </a:r>
            <a:endParaRPr lang="en-US">
              <a:ea typeface="+mn-lt"/>
              <a:cs typeface="+mn-lt"/>
            </a:endParaRPr>
          </a:p>
          <a:p>
            <a:r>
              <a:rPr lang="en-US" sz="2600">
                <a:ea typeface="+mn-lt"/>
                <a:cs typeface="+mn-lt"/>
              </a:rPr>
              <a:t>Ensured smooth frontend-backend integration</a:t>
            </a:r>
            <a:endParaRPr lang="en-US">
              <a:ea typeface="+mn-lt"/>
              <a:cs typeface="+mn-lt"/>
            </a:endParaRPr>
          </a:p>
          <a:p>
            <a:pPr marL="0" indent="0">
              <a:buNone/>
            </a:pPr>
            <a:endParaRPr lang="en-US" sz="2600" dirty="0"/>
          </a:p>
          <a:p>
            <a:pPr marL="0" indent="0">
              <a:buNone/>
            </a:pPr>
            <a:endParaRPr lang="en-IN" b="1" dirty="0"/>
          </a:p>
        </p:txBody>
      </p:sp>
    </p:spTree>
    <p:extLst>
      <p:ext uri="{BB962C8B-B14F-4D97-AF65-F5344CB8AC3E}">
        <p14:creationId xmlns:p14="http://schemas.microsoft.com/office/powerpoint/2010/main" val="3853328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68174-49B3-B045-6398-D50B60B9D68B}"/>
              </a:ext>
            </a:extLst>
          </p:cNvPr>
          <p:cNvSpPr>
            <a:spLocks noGrp="1"/>
          </p:cNvSpPr>
          <p:nvPr>
            <p:ph type="title"/>
          </p:nvPr>
        </p:nvSpPr>
        <p:spPr/>
        <p:txBody>
          <a:bodyPr>
            <a:normAutofit/>
          </a:bodyPr>
          <a:lstStyle/>
          <a:p>
            <a:r>
              <a:rPr lang="en-IN" b="1"/>
              <a:t>Result</a:t>
            </a:r>
            <a:r>
              <a:rPr lang="en-IN" sz="2800" b="1"/>
              <a:t> </a:t>
            </a:r>
            <a:endParaRPr lang="en-US" b="1"/>
          </a:p>
        </p:txBody>
      </p:sp>
      <p:sp>
        <p:nvSpPr>
          <p:cNvPr id="3" name="Content Placeholder 2">
            <a:extLst>
              <a:ext uri="{FF2B5EF4-FFF2-40B4-BE49-F238E27FC236}">
                <a16:creationId xmlns:a16="http://schemas.microsoft.com/office/drawing/2014/main" id="{5E08E1E8-B120-002F-27EC-C466A1F35E7A}"/>
              </a:ext>
            </a:extLst>
          </p:cNvPr>
          <p:cNvSpPr>
            <a:spLocks noGrp="1"/>
          </p:cNvSpPr>
          <p:nvPr>
            <p:ph idx="1"/>
          </p:nvPr>
        </p:nvSpPr>
        <p:spPr/>
        <p:txBody>
          <a:bodyPr vert="horz" lIns="91440" tIns="45720" rIns="91440" bIns="45720" rtlCol="0" anchor="t">
            <a:normAutofit/>
          </a:bodyPr>
          <a:lstStyle/>
          <a:p>
            <a:r>
              <a:rPr lang="en-US" sz="2600">
                <a:ea typeface="+mn-lt"/>
                <a:cs typeface="+mn-lt"/>
              </a:rPr>
              <a:t>Functional frontend successfully developed </a:t>
            </a:r>
            <a:endParaRPr lang="en-US" sz="2600" dirty="0"/>
          </a:p>
          <a:p>
            <a:r>
              <a:rPr lang="en-US" sz="2600">
                <a:ea typeface="+mn-lt"/>
                <a:cs typeface="+mn-lt"/>
              </a:rPr>
              <a:t>Login system implemented successfully </a:t>
            </a:r>
            <a:endParaRPr lang="en-US" sz="2600" dirty="0"/>
          </a:p>
          <a:p>
            <a:r>
              <a:rPr lang="en-US" sz="2600">
                <a:ea typeface="+mn-lt"/>
                <a:cs typeface="+mn-lt"/>
              </a:rPr>
              <a:t>User data stored and retrieved from database </a:t>
            </a:r>
            <a:endParaRPr lang="en-US" sz="2600" dirty="0"/>
          </a:p>
          <a:p>
            <a:r>
              <a:rPr lang="en-US" sz="2600">
                <a:ea typeface="+mn-lt"/>
                <a:cs typeface="+mn-lt"/>
              </a:rPr>
              <a:t>Backend successfully integrated with frontend </a:t>
            </a:r>
            <a:endParaRPr lang="en-US" sz="2600" dirty="0"/>
          </a:p>
          <a:p>
            <a:r>
              <a:rPr lang="en-US" sz="2600">
                <a:ea typeface="+mn-lt"/>
                <a:cs typeface="+mn-lt"/>
              </a:rPr>
              <a:t>System supports real user interaction</a:t>
            </a:r>
            <a:endParaRPr lang="en-US" sz="2600" dirty="0"/>
          </a:p>
          <a:p>
            <a:pPr marL="0" indent="0">
              <a:buNone/>
            </a:pPr>
            <a:endParaRPr lang="en-US" sz="2600" dirty="0"/>
          </a:p>
        </p:txBody>
      </p:sp>
    </p:spTree>
    <p:extLst>
      <p:ext uri="{BB962C8B-B14F-4D97-AF65-F5344CB8AC3E}">
        <p14:creationId xmlns:p14="http://schemas.microsoft.com/office/powerpoint/2010/main" val="1205917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p:txBody>
          <a:bodyPr>
            <a:normAutofit/>
          </a:bodyPr>
          <a:lstStyle/>
          <a:p>
            <a:r>
              <a:rPr lang="en-IN" sz="2800" b="1"/>
              <a:t>Home Page</a:t>
            </a:r>
            <a:endParaRPr lang="en-IN" sz="2800" b="1" dirty="0"/>
          </a:p>
        </p:txBody>
      </p:sp>
      <p:pic>
        <p:nvPicPr>
          <p:cNvPr id="7" name="Picture 6">
            <a:extLst>
              <a:ext uri="{FF2B5EF4-FFF2-40B4-BE49-F238E27FC236}">
                <a16:creationId xmlns:a16="http://schemas.microsoft.com/office/drawing/2014/main" id="{7999E1F7-D7D6-B6C4-D22C-1688EBB4B1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803" y="1662930"/>
            <a:ext cx="9446342" cy="4062791"/>
          </a:xfrm>
          <a:prstGeom prst="rect">
            <a:avLst/>
          </a:prstGeom>
        </p:spPr>
      </p:pic>
      <p:sp>
        <p:nvSpPr>
          <p:cNvPr id="9" name="Rectangle 1">
            <a:extLst>
              <a:ext uri="{FF2B5EF4-FFF2-40B4-BE49-F238E27FC236}">
                <a16:creationId xmlns:a16="http://schemas.microsoft.com/office/drawing/2014/main" id="{19AB0BF7-09F4-A746-6850-C45981B8867E}"/>
              </a:ext>
            </a:extLst>
          </p:cNvPr>
          <p:cNvSpPr>
            <a:spLocks noGrp="1" noChangeArrowheads="1"/>
          </p:cNvSpPr>
          <p:nvPr>
            <p:ph idx="1"/>
          </p:nvPr>
        </p:nvSpPr>
        <p:spPr bwMode="auto">
          <a:xfrm>
            <a:off x="916858" y="166251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5671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9FB53-D238-93CD-6240-1525A66ED85C}"/>
              </a:ext>
            </a:extLst>
          </p:cNvPr>
          <p:cNvSpPr>
            <a:spLocks noGrp="1"/>
          </p:cNvSpPr>
          <p:nvPr>
            <p:ph type="title"/>
          </p:nvPr>
        </p:nvSpPr>
        <p:spPr/>
        <p:txBody>
          <a:bodyPr>
            <a:normAutofit/>
          </a:bodyPr>
          <a:lstStyle/>
          <a:p>
            <a:r>
              <a:rPr lang="en-US" sz="2800" b="1">
                <a:latin typeface="Aptos"/>
              </a:rPr>
              <a:t>Create One</a:t>
            </a:r>
          </a:p>
        </p:txBody>
      </p:sp>
      <p:pic>
        <p:nvPicPr>
          <p:cNvPr id="4" name="Content Placeholder 3" descr="A screenshot of a login form&#10;&#10;AI-generated content may be incorrect.">
            <a:extLst>
              <a:ext uri="{FF2B5EF4-FFF2-40B4-BE49-F238E27FC236}">
                <a16:creationId xmlns:a16="http://schemas.microsoft.com/office/drawing/2014/main" id="{F8A09ECF-3EE0-01D1-926D-E4240139711E}"/>
              </a:ext>
            </a:extLst>
          </p:cNvPr>
          <p:cNvPicPr>
            <a:picLocks noGrp="1" noChangeAspect="1"/>
          </p:cNvPicPr>
          <p:nvPr>
            <p:ph idx="1"/>
          </p:nvPr>
        </p:nvPicPr>
        <p:blipFill>
          <a:blip r:embed="rId2"/>
          <a:stretch>
            <a:fillRect/>
          </a:stretch>
        </p:blipFill>
        <p:spPr>
          <a:xfrm>
            <a:off x="1298201" y="1711092"/>
            <a:ext cx="9259420" cy="4389904"/>
          </a:xfrm>
          <a:prstGeom prst="rect">
            <a:avLst/>
          </a:prstGeom>
        </p:spPr>
      </p:pic>
    </p:spTree>
    <p:extLst>
      <p:ext uri="{BB962C8B-B14F-4D97-AF65-F5344CB8AC3E}">
        <p14:creationId xmlns:p14="http://schemas.microsoft.com/office/powerpoint/2010/main" val="496985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D04AE-7818-2A1C-A864-7F7F5562B3CB}"/>
              </a:ext>
            </a:extLst>
          </p:cNvPr>
          <p:cNvSpPr>
            <a:spLocks noGrp="1"/>
          </p:cNvSpPr>
          <p:nvPr>
            <p:ph type="title"/>
          </p:nvPr>
        </p:nvSpPr>
        <p:spPr/>
        <p:txBody>
          <a:bodyPr/>
          <a:lstStyle/>
          <a:p>
            <a:r>
              <a:rPr lang="en-US" sz="2800" b="1"/>
              <a:t>Login</a:t>
            </a:r>
            <a:r>
              <a:rPr lang="en-US" b="1"/>
              <a:t> </a:t>
            </a:r>
          </a:p>
        </p:txBody>
      </p:sp>
      <p:pic>
        <p:nvPicPr>
          <p:cNvPr id="17" name="Content Placeholder 16" descr="A screenshot of a login form&#10;&#10;AI-generated content may be incorrect.">
            <a:extLst>
              <a:ext uri="{FF2B5EF4-FFF2-40B4-BE49-F238E27FC236}">
                <a16:creationId xmlns:a16="http://schemas.microsoft.com/office/drawing/2014/main" id="{373CBD53-ED2F-F70D-34D4-51410476DD88}"/>
              </a:ext>
            </a:extLst>
          </p:cNvPr>
          <p:cNvPicPr>
            <a:picLocks noGrp="1" noChangeAspect="1"/>
          </p:cNvPicPr>
          <p:nvPr>
            <p:ph idx="1"/>
          </p:nvPr>
        </p:nvPicPr>
        <p:blipFill>
          <a:blip r:embed="rId2"/>
          <a:stretch>
            <a:fillRect/>
          </a:stretch>
        </p:blipFill>
        <p:spPr>
          <a:xfrm>
            <a:off x="1078364" y="1713566"/>
            <a:ext cx="9161214" cy="4351338"/>
          </a:xfrm>
          <a:prstGeom prst="rect">
            <a:avLst/>
          </a:prstGeom>
        </p:spPr>
      </p:pic>
    </p:spTree>
    <p:extLst>
      <p:ext uri="{BB962C8B-B14F-4D97-AF65-F5344CB8AC3E}">
        <p14:creationId xmlns:p14="http://schemas.microsoft.com/office/powerpoint/2010/main" val="1251150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F2C8-E88A-E203-DDA2-348F56266988}"/>
              </a:ext>
            </a:extLst>
          </p:cNvPr>
          <p:cNvSpPr>
            <a:spLocks noGrp="1"/>
          </p:cNvSpPr>
          <p:nvPr>
            <p:ph type="title"/>
          </p:nvPr>
        </p:nvSpPr>
        <p:spPr/>
        <p:txBody>
          <a:bodyPr>
            <a:normAutofit/>
          </a:bodyPr>
          <a:lstStyle/>
          <a:p>
            <a:r>
              <a:rPr lang="en-US" sz="2800" b="1">
                <a:latin typeface="Aptos"/>
              </a:rPr>
              <a:t>Database Table</a:t>
            </a:r>
          </a:p>
        </p:txBody>
      </p:sp>
      <p:pic>
        <p:nvPicPr>
          <p:cNvPr id="4" name="Content Placeholder 3" descr="A screenshot of a computer&#10;&#10;AI-generated content may be incorrect.">
            <a:extLst>
              <a:ext uri="{FF2B5EF4-FFF2-40B4-BE49-F238E27FC236}">
                <a16:creationId xmlns:a16="http://schemas.microsoft.com/office/drawing/2014/main" id="{ADB6DA40-B86E-2BCC-AFDC-B1A6F6B66083}"/>
              </a:ext>
            </a:extLst>
          </p:cNvPr>
          <p:cNvPicPr>
            <a:picLocks noGrp="1" noChangeAspect="1"/>
          </p:cNvPicPr>
          <p:nvPr>
            <p:ph idx="1"/>
          </p:nvPr>
        </p:nvPicPr>
        <p:blipFill>
          <a:blip r:embed="rId2"/>
          <a:stretch>
            <a:fillRect/>
          </a:stretch>
        </p:blipFill>
        <p:spPr>
          <a:xfrm>
            <a:off x="838200" y="1557665"/>
            <a:ext cx="10515600" cy="4192494"/>
          </a:xfrm>
          <a:prstGeom prst="rect">
            <a:avLst/>
          </a:prstGeom>
        </p:spPr>
      </p:pic>
    </p:spTree>
    <p:extLst>
      <p:ext uri="{BB962C8B-B14F-4D97-AF65-F5344CB8AC3E}">
        <p14:creationId xmlns:p14="http://schemas.microsoft.com/office/powerpoint/2010/main" val="720082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a:xfrm>
            <a:off x="838200" y="1481496"/>
            <a:ext cx="10515600" cy="4351338"/>
          </a:xfrm>
        </p:spPr>
        <p:txBody>
          <a:bodyPr vert="horz" lIns="91440" tIns="45720" rIns="91440" bIns="45720" rtlCol="0" anchor="t">
            <a:normAutofit/>
          </a:bodyPr>
          <a:lstStyle/>
          <a:p>
            <a:pPr marL="0" indent="0">
              <a:buNone/>
            </a:pPr>
            <a:endParaRPr lang="en-US" b="1" dirty="0"/>
          </a:p>
          <a:p>
            <a:pPr marL="0" indent="0">
              <a:buNone/>
            </a:pPr>
            <a:r>
              <a:rPr lang="en-US" b="1"/>
              <a:t>Achievement </a:t>
            </a:r>
            <a:endParaRPr lang="en-US"/>
          </a:p>
          <a:p>
            <a:r>
              <a:rPr lang="en-US" sz="2400">
                <a:ea typeface="+mn-lt"/>
                <a:cs typeface="+mn-lt"/>
              </a:rPr>
              <a:t>Built a partially functional full-stack application </a:t>
            </a:r>
            <a:endParaRPr lang="en-US" sz="2400" dirty="0">
              <a:latin typeface="Aptos"/>
            </a:endParaRPr>
          </a:p>
          <a:p>
            <a:r>
              <a:rPr lang="en-US" sz="2400">
                <a:ea typeface="+mn-lt"/>
                <a:cs typeface="+mn-lt"/>
              </a:rPr>
              <a:t>Successfully implemented authentication system </a:t>
            </a:r>
            <a:endParaRPr lang="en-US"/>
          </a:p>
          <a:p>
            <a:r>
              <a:rPr lang="en-US" sz="2400">
                <a:ea typeface="+mn-lt"/>
                <a:cs typeface="+mn-lt"/>
              </a:rPr>
              <a:t>Database integration completed </a:t>
            </a:r>
            <a:endParaRPr lang="en-US"/>
          </a:p>
          <a:p>
            <a:r>
              <a:rPr lang="en-US" sz="2400">
                <a:ea typeface="+mn-lt"/>
                <a:cs typeface="+mn-lt"/>
              </a:rPr>
              <a:t>System ready for further feature expansion</a:t>
            </a:r>
            <a:endParaRPr lang="en-US"/>
          </a:p>
          <a:p>
            <a:pPr marL="0" indent="0">
              <a:buNone/>
            </a:pPr>
            <a:endParaRPr lang="en-US" sz="2400" dirty="0">
              <a:latin typeface="Aptos"/>
            </a:endParaRPr>
          </a:p>
          <a:p>
            <a:pPr marL="0" indent="0">
              <a:buNone/>
            </a:pPr>
            <a:endParaRPr lang="en-US" dirty="0"/>
          </a:p>
        </p:txBody>
      </p:sp>
    </p:spTree>
    <p:extLst>
      <p:ext uri="{BB962C8B-B14F-4D97-AF65-F5344CB8AC3E}">
        <p14:creationId xmlns:p14="http://schemas.microsoft.com/office/powerpoint/2010/main" val="2154956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4" name="Rectangle 1">
            <a:extLst>
              <a:ext uri="{FF2B5EF4-FFF2-40B4-BE49-F238E27FC236}">
                <a16:creationId xmlns:a16="http://schemas.microsoft.com/office/drawing/2014/main" id="{6448D7C7-B675-B986-05FE-5B9B402AEE26}"/>
              </a:ext>
            </a:extLst>
          </p:cNvPr>
          <p:cNvSpPr>
            <a:spLocks noGrp="1" noChangeArrowheads="1"/>
          </p:cNvSpPr>
          <p:nvPr>
            <p:ph idx="1"/>
          </p:nvPr>
        </p:nvSpPr>
        <p:spPr bwMode="auto">
          <a:xfrm>
            <a:off x="838200" y="1888261"/>
            <a:ext cx="10014857"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400" dirty="0" err="1">
                <a:latin typeface="Arial" panose="020B0604020202020204" pitchFamily="34" charset="0"/>
              </a:rPr>
              <a:t>CompareRaja</a:t>
            </a:r>
            <a:r>
              <a:rPr lang="en-US" altLang="en-US" sz="2400" dirty="0">
                <a:latin typeface="Arial" panose="020B0604020202020204" pitchFamily="34" charset="0"/>
              </a:rPr>
              <a:t> Official Website. Available at: https://www.compareraja.in</a:t>
            </a:r>
          </a:p>
          <a:p>
            <a:pPr marL="0" lvl="0" indent="0" eaLnBrk="0" fontAlgn="base" hangingPunct="0">
              <a:lnSpc>
                <a:spcPct val="100000"/>
              </a:lnSpc>
              <a:spcBef>
                <a:spcPct val="0"/>
              </a:spcBef>
              <a:spcAft>
                <a:spcPct val="0"/>
              </a:spcAft>
              <a:buFontTx/>
              <a:buChar char="•"/>
            </a:pPr>
            <a:r>
              <a:rPr lang="en-US" altLang="en-US" sz="2400" dirty="0" err="1">
                <a:latin typeface="Arial" panose="020B0604020202020204" pitchFamily="34" charset="0"/>
              </a:rPr>
              <a:t>PriceDekho</a:t>
            </a:r>
            <a:r>
              <a:rPr lang="en-US" altLang="en-US" sz="2400" dirty="0">
                <a:latin typeface="Arial" panose="020B0604020202020204" pitchFamily="34" charset="0"/>
              </a:rPr>
              <a:t> Official Website. Available at: </a:t>
            </a:r>
            <a:r>
              <a:rPr lang="en-US" altLang="en-US" sz="2400" dirty="0">
                <a:latin typeface="Arial" panose="020B0604020202020204" pitchFamily="34" charset="0"/>
                <a:hlinkClick r:id="rId2"/>
              </a:rPr>
              <a:t>https://www.pricedekho.com</a:t>
            </a: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Google Shopping. Available at: </a:t>
            </a:r>
            <a:r>
              <a:rPr lang="en-US" altLang="en-US" sz="2400" dirty="0">
                <a:latin typeface="Arial" panose="020B0604020202020204" pitchFamily="34" charset="0"/>
                <a:hlinkClick r:id="rId3"/>
              </a:rPr>
              <a:t>https://shopping.google.com</a:t>
            </a:r>
            <a:endParaRPr lang="en-US" altLang="en-US" sz="24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2400" dirty="0">
                <a:latin typeface="Arial" panose="020B0604020202020204" pitchFamily="34" charset="0"/>
              </a:rPr>
              <a:t>Nielsen Norman Group. (2020). </a:t>
            </a:r>
            <a:r>
              <a:rPr lang="en-US" altLang="en-US" sz="2400" i="1" dirty="0">
                <a:latin typeface="Arial" panose="020B0604020202020204" pitchFamily="34" charset="0"/>
              </a:rPr>
              <a:t>Principles of User Interface Design.</a:t>
            </a: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4917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TotalTime>
  <Words>777</Words>
  <Application>Microsoft Office PowerPoint</Application>
  <PresentationFormat>Widescreen</PresentationFormat>
  <Paragraphs>90</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CompareKaro- A smarter way to shop</vt:lpstr>
      <vt:lpstr>Outline</vt:lpstr>
      <vt:lpstr>Introduction</vt:lpstr>
      <vt:lpstr>PowerPoint Presentation</vt:lpstr>
      <vt:lpstr> Literature Review</vt:lpstr>
      <vt:lpstr>PowerPoint Presentation</vt:lpstr>
      <vt:lpstr>Problem Statement</vt:lpstr>
      <vt:lpstr>Objectives</vt:lpstr>
      <vt:lpstr>Proposed Methodology </vt:lpstr>
      <vt:lpstr>PowerPoint Presentation</vt:lpstr>
      <vt:lpstr>PowerPoint Presentation</vt:lpstr>
      <vt:lpstr>Backend &amp; Database</vt:lpstr>
      <vt:lpstr>PowerPoint Presentation</vt:lpstr>
      <vt:lpstr>Result </vt:lpstr>
      <vt:lpstr>Home Page</vt:lpstr>
      <vt:lpstr>Create One</vt:lpstr>
      <vt:lpstr>Login </vt:lpstr>
      <vt:lpstr>Database Table</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Nainitha Y</cp:lastModifiedBy>
  <cp:revision>134</cp:revision>
  <dcterms:created xsi:type="dcterms:W3CDTF">2025-09-29T05:03:41Z</dcterms:created>
  <dcterms:modified xsi:type="dcterms:W3CDTF">2026-04-10T16:30:34Z</dcterms:modified>
</cp:coreProperties>
</file>